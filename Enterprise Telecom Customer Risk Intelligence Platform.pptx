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6" autoAdjust="0"/>
    <p:restoredTop sz="94660"/>
  </p:normalViewPr>
  <p:slideViewPr>
    <p:cSldViewPr snapToGrid="0">
      <p:cViewPr varScale="1">
        <p:scale>
          <a:sx n="65" d="100"/>
          <a:sy n="65" d="100"/>
        </p:scale>
        <p:origin x="726"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7D1FB1F-CD92-4BD0-A9A6-250041EA70C5}" type="datetimeFigureOut">
              <a:rPr lang="en-US" smtClean="0"/>
              <a:t>5/10/2026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5DDECD8-1138-414B-8C9E-C292A7EE8F9D}" type="slidenum">
              <a:rPr lang="en-US" smtClean="0"/>
              <a:t>‹#›</a:t>
            </a:fld>
            <a:endParaRPr lang="en-US"/>
          </a:p>
        </p:txBody>
      </p:sp>
    </p:spTree>
    <p:extLst>
      <p:ext uri="{BB962C8B-B14F-4D97-AF65-F5344CB8AC3E}">
        <p14:creationId xmlns:p14="http://schemas.microsoft.com/office/powerpoint/2010/main" val="2724563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7D1FB1F-CD92-4BD0-A9A6-250041EA70C5}" type="datetimeFigureOut">
              <a:rPr lang="en-US" smtClean="0"/>
              <a:t>5/10/2026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5DDECD8-1138-414B-8C9E-C292A7EE8F9D}" type="slidenum">
              <a:rPr lang="en-US" smtClean="0"/>
              <a:t>‹#›</a:t>
            </a:fld>
            <a:endParaRPr lang="en-US"/>
          </a:p>
        </p:txBody>
      </p:sp>
    </p:spTree>
    <p:extLst>
      <p:ext uri="{BB962C8B-B14F-4D97-AF65-F5344CB8AC3E}">
        <p14:creationId xmlns:p14="http://schemas.microsoft.com/office/powerpoint/2010/main" val="34337534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7D1FB1F-CD92-4BD0-A9A6-250041EA70C5}" type="datetimeFigureOut">
              <a:rPr lang="en-US" smtClean="0"/>
              <a:t>5/10/2026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5DDECD8-1138-414B-8C9E-C292A7EE8F9D}" type="slidenum">
              <a:rPr lang="en-US" smtClean="0"/>
              <a:t>‹#›</a:t>
            </a:fld>
            <a:endParaRPr lang="en-US"/>
          </a:p>
        </p:txBody>
      </p:sp>
    </p:spTree>
    <p:extLst>
      <p:ext uri="{BB962C8B-B14F-4D97-AF65-F5344CB8AC3E}">
        <p14:creationId xmlns:p14="http://schemas.microsoft.com/office/powerpoint/2010/main" val="27590601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7D1FB1F-CD92-4BD0-A9A6-250041EA70C5}" type="datetimeFigureOut">
              <a:rPr lang="en-US" smtClean="0"/>
              <a:t>5/10/2026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5DDECD8-1138-414B-8C9E-C292A7EE8F9D}" type="slidenum">
              <a:rPr lang="en-US" smtClean="0"/>
              <a:t>‹#›</a:t>
            </a:fld>
            <a:endParaRPr lang="en-US"/>
          </a:p>
        </p:txBody>
      </p:sp>
    </p:spTree>
    <p:extLst>
      <p:ext uri="{BB962C8B-B14F-4D97-AF65-F5344CB8AC3E}">
        <p14:creationId xmlns:p14="http://schemas.microsoft.com/office/powerpoint/2010/main" val="21527323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7D1FB1F-CD92-4BD0-A9A6-250041EA70C5}" type="datetimeFigureOut">
              <a:rPr lang="en-US" smtClean="0"/>
              <a:t>5/10/2026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5DDECD8-1138-414B-8C9E-C292A7EE8F9D}" type="slidenum">
              <a:rPr lang="en-US" smtClean="0"/>
              <a:t>‹#›</a:t>
            </a:fld>
            <a:endParaRPr lang="en-US"/>
          </a:p>
        </p:txBody>
      </p:sp>
    </p:spTree>
    <p:extLst>
      <p:ext uri="{BB962C8B-B14F-4D97-AF65-F5344CB8AC3E}">
        <p14:creationId xmlns:p14="http://schemas.microsoft.com/office/powerpoint/2010/main" val="20007994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7D1FB1F-CD92-4BD0-A9A6-250041EA70C5}" type="datetimeFigureOut">
              <a:rPr lang="en-US" smtClean="0"/>
              <a:t>5/10/2026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5DDECD8-1138-414B-8C9E-C292A7EE8F9D}" type="slidenum">
              <a:rPr lang="en-US" smtClean="0"/>
              <a:t>‹#›</a:t>
            </a:fld>
            <a:endParaRPr lang="en-US"/>
          </a:p>
        </p:txBody>
      </p:sp>
    </p:spTree>
    <p:extLst>
      <p:ext uri="{BB962C8B-B14F-4D97-AF65-F5344CB8AC3E}">
        <p14:creationId xmlns:p14="http://schemas.microsoft.com/office/powerpoint/2010/main" val="20439139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1FB1F-CD92-4BD0-A9A6-250041EA70C5}" type="datetimeFigureOut">
              <a:rPr lang="en-US" smtClean="0"/>
              <a:t>5/10/2026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5DDECD8-1138-414B-8C9E-C292A7EE8F9D}" type="slidenum">
              <a:rPr lang="en-US" smtClean="0"/>
              <a:t>‹#›</a:t>
            </a:fld>
            <a:endParaRPr lang="en-US"/>
          </a:p>
        </p:txBody>
      </p:sp>
    </p:spTree>
    <p:extLst>
      <p:ext uri="{BB962C8B-B14F-4D97-AF65-F5344CB8AC3E}">
        <p14:creationId xmlns:p14="http://schemas.microsoft.com/office/powerpoint/2010/main" val="13216900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7D1FB1F-CD92-4BD0-A9A6-250041EA70C5}" type="datetimeFigureOut">
              <a:rPr lang="en-US" smtClean="0"/>
              <a:t>5/10/2026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5DDECD8-1138-414B-8C9E-C292A7EE8F9D}" type="slidenum">
              <a:rPr lang="en-US" smtClean="0"/>
              <a:t>‹#›</a:t>
            </a:fld>
            <a:endParaRPr lang="en-US"/>
          </a:p>
        </p:txBody>
      </p:sp>
    </p:spTree>
    <p:extLst>
      <p:ext uri="{BB962C8B-B14F-4D97-AF65-F5344CB8AC3E}">
        <p14:creationId xmlns:p14="http://schemas.microsoft.com/office/powerpoint/2010/main" val="33160580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7D1FB1F-CD92-4BD0-A9A6-250041EA70C5}" type="datetimeFigureOut">
              <a:rPr lang="en-US" smtClean="0"/>
              <a:t>5/10/2026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5DDECD8-1138-414B-8C9E-C292A7EE8F9D}" type="slidenum">
              <a:rPr lang="en-US" smtClean="0"/>
              <a:t>‹#›</a:t>
            </a:fld>
            <a:endParaRPr lang="en-US"/>
          </a:p>
        </p:txBody>
      </p:sp>
    </p:spTree>
    <p:extLst>
      <p:ext uri="{BB962C8B-B14F-4D97-AF65-F5344CB8AC3E}">
        <p14:creationId xmlns:p14="http://schemas.microsoft.com/office/powerpoint/2010/main" val="32196500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7D1FB1F-CD92-4BD0-A9A6-250041EA70C5}" type="datetimeFigureOut">
              <a:rPr lang="en-US" smtClean="0"/>
              <a:t>5/10/2026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5DDECD8-1138-414B-8C9E-C292A7EE8F9D}" type="slidenum">
              <a:rPr lang="en-US" smtClean="0"/>
              <a:t>‹#›</a:t>
            </a:fld>
            <a:endParaRPr lang="en-US"/>
          </a:p>
        </p:txBody>
      </p:sp>
    </p:spTree>
    <p:extLst>
      <p:ext uri="{BB962C8B-B14F-4D97-AF65-F5344CB8AC3E}">
        <p14:creationId xmlns:p14="http://schemas.microsoft.com/office/powerpoint/2010/main" val="3036034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7D1FB1F-CD92-4BD0-A9A6-250041EA70C5}" type="datetimeFigureOut">
              <a:rPr lang="en-US" smtClean="0"/>
              <a:t>5/10/2026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5DDECD8-1138-414B-8C9E-C292A7EE8F9D}" type="slidenum">
              <a:rPr lang="en-US" smtClean="0"/>
              <a:t>‹#›</a:t>
            </a:fld>
            <a:endParaRPr lang="en-US"/>
          </a:p>
        </p:txBody>
      </p:sp>
    </p:spTree>
    <p:extLst>
      <p:ext uri="{BB962C8B-B14F-4D97-AF65-F5344CB8AC3E}">
        <p14:creationId xmlns:p14="http://schemas.microsoft.com/office/powerpoint/2010/main" val="794020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D1FB1F-CD92-4BD0-A9A6-250041EA70C5}" type="datetimeFigureOut">
              <a:rPr lang="en-US" smtClean="0"/>
              <a:t>5/10/2026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5DDECD8-1138-414B-8C9E-C292A7EE8F9D}" type="slidenum">
              <a:rPr lang="en-US" smtClean="0"/>
              <a:t>‹#›</a:t>
            </a:fld>
            <a:endParaRPr lang="en-US"/>
          </a:p>
        </p:txBody>
      </p:sp>
    </p:spTree>
    <p:extLst>
      <p:ext uri="{BB962C8B-B14F-4D97-AF65-F5344CB8AC3E}">
        <p14:creationId xmlns:p14="http://schemas.microsoft.com/office/powerpoint/2010/main" val="20833984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smtClean="0"/>
              <a:t>Enterprise Telecom Customer Risk Intelligence Platform</a:t>
            </a:r>
            <a:endParaRPr lang="en-US" dirty="0"/>
          </a:p>
        </p:txBody>
      </p:sp>
      <p:sp>
        <p:nvSpPr>
          <p:cNvPr id="3" name="Subtitle 2"/>
          <p:cNvSpPr>
            <a:spLocks noGrp="1"/>
          </p:cNvSpPr>
          <p:nvPr>
            <p:ph type="subTitle" idx="1"/>
          </p:nvPr>
        </p:nvSpPr>
        <p:spPr/>
        <p:txBody>
          <a:bodyPr/>
          <a:lstStyle/>
          <a:p>
            <a:r>
              <a:rPr lang="en-US" dirty="0" err="1" smtClean="0"/>
              <a:t>Saiswarnalakshmi</a:t>
            </a:r>
            <a:r>
              <a:rPr lang="en-US" dirty="0" smtClean="0"/>
              <a:t> </a:t>
            </a:r>
            <a:r>
              <a:rPr lang="en-US" dirty="0" err="1" smtClean="0"/>
              <a:t>Rajaraman</a:t>
            </a:r>
            <a:endParaRPr lang="en-US" dirty="0"/>
          </a:p>
        </p:txBody>
      </p:sp>
    </p:spTree>
    <p:extLst>
      <p:ext uri="{BB962C8B-B14F-4D97-AF65-F5344CB8AC3E}">
        <p14:creationId xmlns:p14="http://schemas.microsoft.com/office/powerpoint/2010/main" val="32248949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97973" y="773723"/>
            <a:ext cx="10026445" cy="5262979"/>
          </a:xfrm>
          <a:prstGeom prst="rect">
            <a:avLst/>
          </a:prstGeom>
        </p:spPr>
        <p:txBody>
          <a:bodyPr wrap="square">
            <a:spAutoFit/>
          </a:bodyPr>
          <a:lstStyle/>
          <a:p>
            <a:r>
              <a:rPr lang="en-US" sz="2400" b="1" u="sng" dirty="0" smtClean="0">
                <a:latin typeface="Calibri (Body)"/>
              </a:rPr>
              <a:t>Objective of the Project:</a:t>
            </a:r>
          </a:p>
          <a:p>
            <a:endParaRPr lang="en-US" sz="2400" dirty="0">
              <a:latin typeface="Calibri (Body)"/>
            </a:endParaRPr>
          </a:p>
          <a:p>
            <a:r>
              <a:rPr lang="en-US" sz="2400" dirty="0" smtClean="0">
                <a:latin typeface="Calibri (Body)"/>
              </a:rPr>
              <a:t>You are hired as a Senior Data Scientist by a telecom company. The company is facing customer churn, but leadership explicitly states: “We do NOT want just a churn prediction model. We want a risk intelligence system that helps us decide who to act on, how to act, and why.” Using the provided dataset, you must build an Enterprise Customer Risk Intelligence Platform that: </a:t>
            </a:r>
          </a:p>
          <a:p>
            <a:endParaRPr lang="en-US" sz="2400" dirty="0">
              <a:latin typeface="Calibri (Body)"/>
            </a:endParaRPr>
          </a:p>
          <a:p>
            <a:pPr marL="342900" indent="-342900">
              <a:buAutoNum type="arabicPeriod"/>
            </a:pPr>
            <a:r>
              <a:rPr lang="en-US" sz="2400" dirty="0" smtClean="0">
                <a:latin typeface="Calibri (Body)"/>
              </a:rPr>
              <a:t>Predicts churn probability.</a:t>
            </a:r>
          </a:p>
          <a:p>
            <a:pPr marL="342900" indent="-342900">
              <a:buAutoNum type="arabicPeriod"/>
            </a:pPr>
            <a:r>
              <a:rPr lang="en-US" sz="2400" dirty="0" smtClean="0">
                <a:latin typeface="Calibri (Body)"/>
              </a:rPr>
              <a:t>Explains churn drivers at global and customer level .</a:t>
            </a:r>
          </a:p>
          <a:p>
            <a:pPr marL="342900" indent="-342900">
              <a:buAutoNum type="arabicPeriod"/>
            </a:pPr>
            <a:r>
              <a:rPr lang="en-US" sz="2400" dirty="0" smtClean="0">
                <a:latin typeface="Calibri (Body)"/>
              </a:rPr>
              <a:t>Optimizes retention decisions under business cost constraints .</a:t>
            </a:r>
          </a:p>
          <a:p>
            <a:pPr marL="342900" indent="-342900">
              <a:buAutoNum type="arabicPeriod"/>
            </a:pPr>
            <a:r>
              <a:rPr lang="en-US" sz="2400" dirty="0" smtClean="0">
                <a:latin typeface="Calibri (Body)"/>
              </a:rPr>
              <a:t>Compares classical ML vs Deep Learning </a:t>
            </a:r>
          </a:p>
          <a:p>
            <a:pPr marL="342900" indent="-342900">
              <a:buAutoNum type="arabicPeriod"/>
            </a:pPr>
            <a:r>
              <a:rPr lang="en-US" sz="2400" dirty="0" smtClean="0">
                <a:latin typeface="Calibri (Body)"/>
              </a:rPr>
              <a:t>Produces governance-ready insights </a:t>
            </a:r>
            <a:endParaRPr lang="en-US" sz="2400" dirty="0">
              <a:latin typeface="Calibri (Body)"/>
            </a:endParaRPr>
          </a:p>
        </p:txBody>
      </p:sp>
    </p:spTree>
    <p:extLst>
      <p:ext uri="{BB962C8B-B14F-4D97-AF65-F5344CB8AC3E}">
        <p14:creationId xmlns:p14="http://schemas.microsoft.com/office/powerpoint/2010/main" val="17319960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715295" y="329502"/>
            <a:ext cx="10913807" cy="5871479"/>
          </a:xfrm>
          <a:prstGeom prst="rect">
            <a:avLst/>
          </a:prstGeom>
        </p:spPr>
        <p:txBody>
          <a:bodyPr wrap="square">
            <a:spAutoFit/>
          </a:bodyPr>
          <a:lstStyle/>
          <a:p>
            <a:pPr>
              <a:lnSpc>
                <a:spcPct val="107000"/>
              </a:lnSpc>
              <a:spcAft>
                <a:spcPts val="800"/>
              </a:spcAft>
            </a:pPr>
            <a:r>
              <a:rPr lang="en-US" b="1" dirty="0">
                <a:latin typeface="Calibri body"/>
                <a:ea typeface="Times New Roman" panose="02020603050405020304" pitchFamily="18" charset="0"/>
                <a:cs typeface="Times New Roman" panose="02020603050405020304" pitchFamily="18" charset="0"/>
              </a:rPr>
              <a:t>Core libraries</a:t>
            </a:r>
            <a:endParaRPr lang="en-US" sz="1100" dirty="0" smtClean="0">
              <a:effectLst/>
              <a:latin typeface="Calibri body"/>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dirty="0">
                <a:latin typeface="Calibri body"/>
                <a:ea typeface="Times New Roman" panose="02020603050405020304" pitchFamily="18" charset="0"/>
                <a:cs typeface="Times New Roman" panose="02020603050405020304" pitchFamily="18" charset="0"/>
              </a:rPr>
              <a:t>pandas (</a:t>
            </a:r>
            <a:r>
              <a:rPr lang="en-US" dirty="0" err="1">
                <a:latin typeface="Calibri body"/>
                <a:ea typeface="Times New Roman" panose="02020603050405020304" pitchFamily="18" charset="0"/>
                <a:cs typeface="Times New Roman" panose="02020603050405020304" pitchFamily="18" charset="0"/>
              </a:rPr>
              <a:t>pd</a:t>
            </a:r>
            <a:r>
              <a:rPr lang="en-US" dirty="0">
                <a:latin typeface="Calibri body"/>
                <a:ea typeface="Times New Roman" panose="02020603050405020304" pitchFamily="18" charset="0"/>
                <a:cs typeface="Times New Roman" panose="02020603050405020304" pitchFamily="18" charset="0"/>
              </a:rPr>
              <a:t>) → Data loading and manipulation using </a:t>
            </a:r>
            <a:r>
              <a:rPr lang="en-US" dirty="0" err="1">
                <a:latin typeface="Calibri body"/>
                <a:ea typeface="Times New Roman" panose="02020603050405020304" pitchFamily="18" charset="0"/>
                <a:cs typeface="Times New Roman" panose="02020603050405020304" pitchFamily="18" charset="0"/>
              </a:rPr>
              <a:t>DataFrames</a:t>
            </a:r>
            <a:r>
              <a:rPr lang="en-US" dirty="0">
                <a:latin typeface="Calibri body"/>
                <a:ea typeface="Times New Roman" panose="02020603050405020304" pitchFamily="18" charset="0"/>
                <a:cs typeface="Times New Roman" panose="02020603050405020304" pitchFamily="18" charset="0"/>
              </a:rPr>
              <a:t>. </a:t>
            </a:r>
            <a:endParaRPr lang="en-US" sz="1100" dirty="0" smtClean="0">
              <a:effectLst/>
              <a:latin typeface="Calibri body"/>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dirty="0" err="1">
                <a:latin typeface="Calibri body"/>
                <a:ea typeface="Times New Roman" panose="02020603050405020304" pitchFamily="18" charset="0"/>
                <a:cs typeface="Times New Roman" panose="02020603050405020304" pitchFamily="18" charset="0"/>
              </a:rPr>
              <a:t>numpy</a:t>
            </a:r>
            <a:r>
              <a:rPr lang="en-US" dirty="0">
                <a:latin typeface="Calibri body"/>
                <a:ea typeface="Times New Roman" panose="02020603050405020304" pitchFamily="18" charset="0"/>
                <a:cs typeface="Times New Roman" panose="02020603050405020304" pitchFamily="18" charset="0"/>
              </a:rPr>
              <a:t> (np) → Numerical operations and array handling. </a:t>
            </a:r>
            <a:endParaRPr lang="en-US" sz="1100" dirty="0" smtClean="0">
              <a:effectLst/>
              <a:latin typeface="Calibri body"/>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dirty="0" err="1">
                <a:latin typeface="Calibri body"/>
                <a:ea typeface="Times New Roman" panose="02020603050405020304" pitchFamily="18" charset="0"/>
                <a:cs typeface="Times New Roman" panose="02020603050405020304" pitchFamily="18" charset="0"/>
              </a:rPr>
              <a:t>joblib</a:t>
            </a:r>
            <a:r>
              <a:rPr lang="en-US" dirty="0">
                <a:latin typeface="Calibri body"/>
                <a:ea typeface="Times New Roman" panose="02020603050405020304" pitchFamily="18" charset="0"/>
                <a:cs typeface="Times New Roman" panose="02020603050405020304" pitchFamily="18" charset="0"/>
              </a:rPr>
              <a:t> → Saving and loading trained ML models. </a:t>
            </a:r>
            <a:endParaRPr lang="en-US" sz="1100" dirty="0" smtClean="0">
              <a:effectLst/>
              <a:latin typeface="Calibri body"/>
              <a:ea typeface="Calibri" panose="020F0502020204030204" pitchFamily="34" charset="0"/>
              <a:cs typeface="Times New Roman" panose="02020603050405020304" pitchFamily="18" charset="0"/>
            </a:endParaRPr>
          </a:p>
          <a:p>
            <a:pPr>
              <a:lnSpc>
                <a:spcPct val="107000"/>
              </a:lnSpc>
              <a:spcAft>
                <a:spcPts val="0"/>
              </a:spcAft>
            </a:pPr>
            <a:r>
              <a:rPr lang="en-US" dirty="0">
                <a:latin typeface="Calibri body"/>
                <a:ea typeface="Times New Roman" panose="02020603050405020304" pitchFamily="18" charset="0"/>
                <a:cs typeface="Times New Roman" panose="02020603050405020304" pitchFamily="18" charset="0"/>
              </a:rPr>
              <a:t> </a:t>
            </a:r>
            <a:endParaRPr lang="en-US" sz="1100" dirty="0" smtClean="0">
              <a:effectLst/>
              <a:latin typeface="Calibri body"/>
              <a:ea typeface="Calibri" panose="020F0502020204030204" pitchFamily="34" charset="0"/>
              <a:cs typeface="Times New Roman" panose="02020603050405020304" pitchFamily="18" charset="0"/>
            </a:endParaRPr>
          </a:p>
          <a:p>
            <a:pPr>
              <a:lnSpc>
                <a:spcPct val="107000"/>
              </a:lnSpc>
              <a:spcAft>
                <a:spcPts val="800"/>
              </a:spcAft>
            </a:pPr>
            <a:r>
              <a:rPr lang="en-US" b="1" dirty="0" err="1">
                <a:latin typeface="Calibri body"/>
                <a:ea typeface="Times New Roman" panose="02020603050405020304" pitchFamily="18" charset="0"/>
                <a:cs typeface="Times New Roman" panose="02020603050405020304" pitchFamily="18" charset="0"/>
              </a:rPr>
              <a:t>Scikit</a:t>
            </a:r>
            <a:r>
              <a:rPr lang="en-US" b="1" dirty="0">
                <a:latin typeface="Calibri body"/>
                <a:ea typeface="Times New Roman" panose="02020603050405020304" pitchFamily="18" charset="0"/>
                <a:cs typeface="Times New Roman" panose="02020603050405020304" pitchFamily="18" charset="0"/>
              </a:rPr>
              <a:t>-learn modules</a:t>
            </a:r>
            <a:endParaRPr lang="en-US" sz="1100" dirty="0" smtClean="0">
              <a:effectLst/>
              <a:latin typeface="Calibri body"/>
              <a:ea typeface="Calibri" panose="020F0502020204030204" pitchFamily="34" charset="0"/>
              <a:cs typeface="Times New Roman" panose="02020603050405020304" pitchFamily="18" charset="0"/>
            </a:endParaRPr>
          </a:p>
          <a:p>
            <a:pPr>
              <a:lnSpc>
                <a:spcPct val="107000"/>
              </a:lnSpc>
              <a:spcAft>
                <a:spcPts val="800"/>
              </a:spcAft>
            </a:pPr>
            <a:r>
              <a:rPr lang="en-US" b="1" dirty="0">
                <a:latin typeface="Calibri body"/>
                <a:ea typeface="Times New Roman" panose="02020603050405020304" pitchFamily="18" charset="0"/>
                <a:cs typeface="Times New Roman" panose="02020603050405020304" pitchFamily="18" charset="0"/>
              </a:rPr>
              <a:t>Data splitting &amp; validation</a:t>
            </a:r>
            <a:endParaRPr lang="en-US" sz="1100" dirty="0" smtClean="0">
              <a:effectLst/>
              <a:latin typeface="Calibri body"/>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dirty="0" err="1">
                <a:latin typeface="Calibri body"/>
                <a:ea typeface="Times New Roman" panose="02020603050405020304" pitchFamily="18" charset="0"/>
                <a:cs typeface="Times New Roman" panose="02020603050405020304" pitchFamily="18" charset="0"/>
              </a:rPr>
              <a:t>train_test_split</a:t>
            </a:r>
            <a:r>
              <a:rPr lang="en-US" dirty="0">
                <a:latin typeface="Calibri body"/>
                <a:ea typeface="Times New Roman" panose="02020603050405020304" pitchFamily="18" charset="0"/>
                <a:cs typeface="Times New Roman" panose="02020603050405020304" pitchFamily="18" charset="0"/>
              </a:rPr>
              <a:t> → Splits data into training and testing sets. </a:t>
            </a:r>
            <a:endParaRPr lang="en-US" sz="1100" dirty="0" smtClean="0">
              <a:effectLst/>
              <a:latin typeface="Calibri body"/>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dirty="0" err="1">
                <a:latin typeface="Calibri body"/>
                <a:ea typeface="Times New Roman" panose="02020603050405020304" pitchFamily="18" charset="0"/>
                <a:cs typeface="Times New Roman" panose="02020603050405020304" pitchFamily="18" charset="0"/>
              </a:rPr>
              <a:t>StratifiedKFold</a:t>
            </a:r>
            <a:r>
              <a:rPr lang="en-US" dirty="0">
                <a:latin typeface="Calibri body"/>
                <a:ea typeface="Times New Roman" panose="02020603050405020304" pitchFamily="18" charset="0"/>
                <a:cs typeface="Times New Roman" panose="02020603050405020304" pitchFamily="18" charset="0"/>
              </a:rPr>
              <a:t> → Cross-validation preserving class distribution. </a:t>
            </a:r>
            <a:endParaRPr lang="en-US" sz="1100" dirty="0" smtClean="0">
              <a:effectLst/>
              <a:latin typeface="Calibri body"/>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dirty="0" err="1">
                <a:latin typeface="Calibri body"/>
                <a:ea typeface="Times New Roman" panose="02020603050405020304" pitchFamily="18" charset="0"/>
                <a:cs typeface="Times New Roman" panose="02020603050405020304" pitchFamily="18" charset="0"/>
              </a:rPr>
              <a:t>cross_val_score</a:t>
            </a:r>
            <a:r>
              <a:rPr lang="en-US" dirty="0">
                <a:latin typeface="Calibri body"/>
                <a:ea typeface="Times New Roman" panose="02020603050405020304" pitchFamily="18" charset="0"/>
                <a:cs typeface="Times New Roman" panose="02020603050405020304" pitchFamily="18" charset="0"/>
              </a:rPr>
              <a:t> → Evaluates model performance using cross-validation. </a:t>
            </a:r>
            <a:endParaRPr lang="en-US" sz="1100" dirty="0" smtClean="0">
              <a:effectLst/>
              <a:latin typeface="Calibri body"/>
              <a:ea typeface="Calibri" panose="020F0502020204030204" pitchFamily="34" charset="0"/>
              <a:cs typeface="Times New Roman" panose="02020603050405020304" pitchFamily="18" charset="0"/>
            </a:endParaRPr>
          </a:p>
          <a:p>
            <a:pPr>
              <a:lnSpc>
                <a:spcPct val="107000"/>
              </a:lnSpc>
              <a:spcAft>
                <a:spcPts val="800"/>
              </a:spcAft>
            </a:pPr>
            <a:r>
              <a:rPr lang="en-US" b="1" dirty="0">
                <a:latin typeface="Calibri body"/>
                <a:ea typeface="Times New Roman" panose="02020603050405020304" pitchFamily="18" charset="0"/>
                <a:cs typeface="Times New Roman" panose="02020603050405020304" pitchFamily="18" charset="0"/>
              </a:rPr>
              <a:t>Preprocessing</a:t>
            </a:r>
            <a:endParaRPr lang="en-US" sz="1100" dirty="0" smtClean="0">
              <a:effectLst/>
              <a:latin typeface="Calibri body"/>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dirty="0" err="1">
                <a:latin typeface="Calibri body"/>
                <a:ea typeface="Times New Roman" panose="02020603050405020304" pitchFamily="18" charset="0"/>
                <a:cs typeface="Times New Roman" panose="02020603050405020304" pitchFamily="18" charset="0"/>
              </a:rPr>
              <a:t>OneHotEncoder</a:t>
            </a:r>
            <a:r>
              <a:rPr lang="en-US" dirty="0">
                <a:latin typeface="Calibri body"/>
                <a:ea typeface="Times New Roman" panose="02020603050405020304" pitchFamily="18" charset="0"/>
                <a:cs typeface="Times New Roman" panose="02020603050405020304" pitchFamily="18" charset="0"/>
              </a:rPr>
              <a:t> → Converts categorical variables into numeric encoded columns. </a:t>
            </a:r>
            <a:endParaRPr lang="en-US" sz="1100" dirty="0" smtClean="0">
              <a:effectLst/>
              <a:latin typeface="Calibri body"/>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dirty="0" err="1">
                <a:latin typeface="Calibri body"/>
                <a:ea typeface="Times New Roman" panose="02020603050405020304" pitchFamily="18" charset="0"/>
                <a:cs typeface="Times New Roman" panose="02020603050405020304" pitchFamily="18" charset="0"/>
              </a:rPr>
              <a:t>StandardScaler</a:t>
            </a:r>
            <a:r>
              <a:rPr lang="en-US" dirty="0">
                <a:latin typeface="Calibri body"/>
                <a:ea typeface="Times New Roman" panose="02020603050405020304" pitchFamily="18" charset="0"/>
                <a:cs typeface="Times New Roman" panose="02020603050405020304" pitchFamily="18" charset="0"/>
              </a:rPr>
              <a:t> → Standardizes numerical features. </a:t>
            </a:r>
            <a:endParaRPr lang="en-US" sz="1100" dirty="0" smtClean="0">
              <a:effectLst/>
              <a:latin typeface="Calibri body"/>
              <a:ea typeface="Calibri" panose="020F0502020204030204" pitchFamily="34" charset="0"/>
              <a:cs typeface="Times New Roman" panose="02020603050405020304" pitchFamily="18" charset="0"/>
            </a:endParaRPr>
          </a:p>
          <a:p>
            <a:pPr>
              <a:lnSpc>
                <a:spcPct val="107000"/>
              </a:lnSpc>
              <a:spcAft>
                <a:spcPts val="800"/>
              </a:spcAft>
            </a:pPr>
            <a:r>
              <a:rPr lang="en-US" b="1" dirty="0">
                <a:latin typeface="Calibri body"/>
                <a:ea typeface="Times New Roman" panose="02020603050405020304" pitchFamily="18" charset="0"/>
                <a:cs typeface="Times New Roman" panose="02020603050405020304" pitchFamily="18" charset="0"/>
              </a:rPr>
              <a:t>Feature transformation</a:t>
            </a:r>
            <a:endParaRPr lang="en-US" sz="1100" dirty="0" smtClean="0">
              <a:effectLst/>
              <a:latin typeface="Calibri body"/>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dirty="0" err="1">
                <a:latin typeface="Calibri body"/>
                <a:ea typeface="Times New Roman" panose="02020603050405020304" pitchFamily="18" charset="0"/>
                <a:cs typeface="Times New Roman" panose="02020603050405020304" pitchFamily="18" charset="0"/>
              </a:rPr>
              <a:t>ColumnTransformer</a:t>
            </a:r>
            <a:r>
              <a:rPr lang="en-US" dirty="0">
                <a:latin typeface="Calibri body"/>
                <a:ea typeface="Times New Roman" panose="02020603050405020304" pitchFamily="18" charset="0"/>
                <a:cs typeface="Times New Roman" panose="02020603050405020304" pitchFamily="18" charset="0"/>
              </a:rPr>
              <a:t> → Applies different preprocessing to different column types. </a:t>
            </a:r>
            <a:endParaRPr lang="en-US" sz="1100" dirty="0" smtClean="0">
              <a:effectLst/>
              <a:latin typeface="Calibri body"/>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133224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61104" y="508538"/>
            <a:ext cx="6096000" cy="3967881"/>
          </a:xfrm>
          <a:prstGeom prst="rect">
            <a:avLst/>
          </a:prstGeom>
        </p:spPr>
        <p:txBody>
          <a:bodyPr>
            <a:spAutoFit/>
          </a:bodyPr>
          <a:lstStyle/>
          <a:p>
            <a:pPr>
              <a:lnSpc>
                <a:spcPct val="107000"/>
              </a:lnSpc>
              <a:spcAft>
                <a:spcPts val="800"/>
              </a:spcAft>
            </a:pPr>
            <a:r>
              <a:rPr lang="en-US" b="1" dirty="0" smtClean="0">
                <a:latin typeface="Calibri body"/>
                <a:ea typeface="Times New Roman" panose="02020603050405020304" pitchFamily="18" charset="0"/>
                <a:cs typeface="Times New Roman" panose="02020603050405020304" pitchFamily="18" charset="0"/>
              </a:rPr>
              <a:t>Pipeline creation</a:t>
            </a:r>
            <a:endParaRPr lang="en-US" dirty="0" smtClean="0">
              <a:effectLst/>
              <a:latin typeface="Calibri body"/>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dirty="0" smtClean="0">
                <a:latin typeface="Calibri body"/>
                <a:ea typeface="Times New Roman" panose="02020603050405020304" pitchFamily="18" charset="0"/>
                <a:cs typeface="Times New Roman" panose="02020603050405020304" pitchFamily="18" charset="0"/>
              </a:rPr>
              <a:t>Pipeline → Chains preprocessing and model training steps together. </a:t>
            </a:r>
            <a:endParaRPr lang="en-US" dirty="0" smtClean="0">
              <a:effectLst/>
              <a:latin typeface="Calibri body"/>
              <a:ea typeface="Calibri" panose="020F0502020204030204" pitchFamily="34" charset="0"/>
              <a:cs typeface="Times New Roman" panose="02020603050405020304" pitchFamily="18" charset="0"/>
            </a:endParaRPr>
          </a:p>
          <a:p>
            <a:pPr>
              <a:lnSpc>
                <a:spcPct val="107000"/>
              </a:lnSpc>
              <a:spcAft>
                <a:spcPts val="800"/>
              </a:spcAft>
            </a:pPr>
            <a:r>
              <a:rPr lang="en-US" b="1" dirty="0" smtClean="0">
                <a:latin typeface="Calibri body"/>
                <a:ea typeface="Times New Roman" panose="02020603050405020304" pitchFamily="18" charset="0"/>
                <a:cs typeface="Times New Roman" panose="02020603050405020304" pitchFamily="18" charset="0"/>
              </a:rPr>
              <a:t>Evaluation metric</a:t>
            </a:r>
            <a:endParaRPr lang="en-US" dirty="0" smtClean="0">
              <a:effectLst/>
              <a:latin typeface="Calibri body"/>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dirty="0" err="1" smtClean="0">
                <a:latin typeface="Calibri body"/>
                <a:ea typeface="Times New Roman" panose="02020603050405020304" pitchFamily="18" charset="0"/>
                <a:cs typeface="Times New Roman" panose="02020603050405020304" pitchFamily="18" charset="0"/>
              </a:rPr>
              <a:t>roc_auc_score</a:t>
            </a:r>
            <a:r>
              <a:rPr lang="en-US" dirty="0" smtClean="0">
                <a:latin typeface="Calibri body"/>
                <a:ea typeface="Times New Roman" panose="02020603050405020304" pitchFamily="18" charset="0"/>
                <a:cs typeface="Times New Roman" panose="02020603050405020304" pitchFamily="18" charset="0"/>
              </a:rPr>
              <a:t> → Measures classification model performance using ROC-AUC. </a:t>
            </a:r>
            <a:endParaRPr lang="en-US" dirty="0" smtClean="0">
              <a:effectLst/>
              <a:latin typeface="Calibri body"/>
              <a:ea typeface="Calibri" panose="020F0502020204030204" pitchFamily="34" charset="0"/>
              <a:cs typeface="Times New Roman" panose="02020603050405020304" pitchFamily="18" charset="0"/>
            </a:endParaRPr>
          </a:p>
          <a:p>
            <a:pPr>
              <a:lnSpc>
                <a:spcPct val="107000"/>
              </a:lnSpc>
              <a:spcAft>
                <a:spcPts val="0"/>
              </a:spcAft>
            </a:pPr>
            <a:r>
              <a:rPr lang="en-US" dirty="0" smtClean="0">
                <a:latin typeface="Calibri body"/>
                <a:ea typeface="Times New Roman" panose="02020603050405020304" pitchFamily="18" charset="0"/>
                <a:cs typeface="Times New Roman" panose="02020603050405020304" pitchFamily="18" charset="0"/>
              </a:rPr>
              <a:t> </a:t>
            </a:r>
            <a:endParaRPr lang="en-US" dirty="0" smtClean="0">
              <a:effectLst/>
              <a:latin typeface="Calibri body"/>
              <a:ea typeface="Calibri" panose="020F0502020204030204" pitchFamily="34" charset="0"/>
              <a:cs typeface="Times New Roman" panose="02020603050405020304" pitchFamily="18" charset="0"/>
            </a:endParaRPr>
          </a:p>
          <a:p>
            <a:pPr>
              <a:lnSpc>
                <a:spcPct val="107000"/>
              </a:lnSpc>
              <a:spcAft>
                <a:spcPts val="800"/>
              </a:spcAft>
            </a:pPr>
            <a:r>
              <a:rPr lang="en-US" b="1" dirty="0" smtClean="0">
                <a:latin typeface="Calibri body"/>
                <a:ea typeface="Times New Roman" panose="02020603050405020304" pitchFamily="18" charset="0"/>
                <a:cs typeface="Times New Roman" panose="02020603050405020304" pitchFamily="18" charset="0"/>
              </a:rPr>
              <a:t>Machine Learning Models</a:t>
            </a:r>
            <a:endParaRPr lang="en-US" dirty="0" smtClean="0">
              <a:effectLst/>
              <a:latin typeface="Calibri body"/>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dirty="0" err="1" smtClean="0">
                <a:latin typeface="Calibri body"/>
                <a:ea typeface="Times New Roman" panose="02020603050405020304" pitchFamily="18" charset="0"/>
                <a:cs typeface="Times New Roman" panose="02020603050405020304" pitchFamily="18" charset="0"/>
              </a:rPr>
              <a:t>LogisticRegression</a:t>
            </a:r>
            <a:r>
              <a:rPr lang="en-US" dirty="0" smtClean="0">
                <a:latin typeface="Calibri body"/>
                <a:ea typeface="Times New Roman" panose="02020603050405020304" pitchFamily="18" charset="0"/>
                <a:cs typeface="Times New Roman" panose="02020603050405020304" pitchFamily="18" charset="0"/>
              </a:rPr>
              <a:t> → Linear classification algorithm. </a:t>
            </a:r>
            <a:endParaRPr lang="en-US" dirty="0" smtClean="0">
              <a:effectLst/>
              <a:latin typeface="Calibri body"/>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dirty="0" err="1" smtClean="0">
                <a:latin typeface="Calibri body"/>
                <a:ea typeface="Times New Roman" panose="02020603050405020304" pitchFamily="18" charset="0"/>
                <a:cs typeface="Times New Roman" panose="02020603050405020304" pitchFamily="18" charset="0"/>
              </a:rPr>
              <a:t>RandomForestClassifier</a:t>
            </a:r>
            <a:r>
              <a:rPr lang="en-US" dirty="0" smtClean="0">
                <a:latin typeface="Calibri body"/>
                <a:ea typeface="Times New Roman" panose="02020603050405020304" pitchFamily="18" charset="0"/>
                <a:cs typeface="Times New Roman" panose="02020603050405020304" pitchFamily="18" charset="0"/>
              </a:rPr>
              <a:t> → Ensemble tree-based classification algorithm.</a:t>
            </a:r>
            <a:endParaRPr lang="en-US" dirty="0">
              <a:effectLst/>
              <a:latin typeface="Calibri body"/>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514067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38083" y="388398"/>
            <a:ext cx="10336161" cy="5632311"/>
          </a:xfrm>
          <a:prstGeom prst="rect">
            <a:avLst/>
          </a:prstGeom>
        </p:spPr>
        <p:txBody>
          <a:bodyPr wrap="square">
            <a:spAutoFit/>
          </a:bodyPr>
          <a:lstStyle/>
          <a:p>
            <a:r>
              <a:rPr lang="en-US" b="1" u="sng" dirty="0" smtClean="0"/>
              <a:t>Models:</a:t>
            </a:r>
          </a:p>
          <a:p>
            <a:endParaRPr lang="en-US" b="1" u="sng" dirty="0"/>
          </a:p>
          <a:p>
            <a:r>
              <a:rPr lang="en-US" b="1" u="sng" dirty="0" smtClean="0"/>
              <a:t>Logistic Regression:</a:t>
            </a:r>
          </a:p>
          <a:p>
            <a:endParaRPr lang="en-US" b="1" u="sng" dirty="0" smtClean="0"/>
          </a:p>
          <a:p>
            <a:r>
              <a:rPr lang="en-US" dirty="0" smtClean="0"/>
              <a:t>Logistic Regression is a </a:t>
            </a:r>
            <a:r>
              <a:rPr lang="en-US" b="1" dirty="0" smtClean="0"/>
              <a:t>supervised machine learning algorithm</a:t>
            </a:r>
            <a:r>
              <a:rPr lang="en-US" dirty="0" smtClean="0"/>
              <a:t> used mainly for </a:t>
            </a:r>
            <a:r>
              <a:rPr lang="en-US" b="1" dirty="0" smtClean="0"/>
              <a:t>classification problems</a:t>
            </a:r>
            <a:r>
              <a:rPr lang="en-US" dirty="0" smtClean="0"/>
              <a:t>, especially binary classification (Yes/No, 0/1, True/False).</a:t>
            </a:r>
          </a:p>
          <a:p>
            <a:r>
              <a:rPr lang="en-US" dirty="0" smtClean="0"/>
              <a:t>It predicts the </a:t>
            </a:r>
            <a:r>
              <a:rPr lang="en-US" b="1" dirty="0" smtClean="0"/>
              <a:t>probability</a:t>
            </a:r>
            <a:r>
              <a:rPr lang="en-US" dirty="0" smtClean="0"/>
              <a:t> that an input belongs to a particular class using the logistic (sigmoid) function.</a:t>
            </a:r>
          </a:p>
          <a:p>
            <a:endParaRPr lang="en-US" dirty="0" smtClean="0"/>
          </a:p>
          <a:p>
            <a:r>
              <a:rPr lang="en-US" b="1" dirty="0" smtClean="0"/>
              <a:t>Example</a:t>
            </a:r>
          </a:p>
          <a:p>
            <a:pPr>
              <a:buFont typeface="Arial" panose="020B0604020202020204" pitchFamily="34" charset="0"/>
              <a:buChar char="•"/>
            </a:pPr>
            <a:r>
              <a:rPr lang="en-US" dirty="0" smtClean="0"/>
              <a:t>Email → Spam or Not Spam </a:t>
            </a:r>
          </a:p>
          <a:p>
            <a:pPr>
              <a:buFont typeface="Arial" panose="020B0604020202020204" pitchFamily="34" charset="0"/>
              <a:buChar char="•"/>
            </a:pPr>
            <a:r>
              <a:rPr lang="en-US" dirty="0" smtClean="0"/>
              <a:t>Customer → Buy or Not Buy </a:t>
            </a:r>
          </a:p>
          <a:p>
            <a:pPr>
              <a:buFont typeface="Arial" panose="020B0604020202020204" pitchFamily="34" charset="0"/>
              <a:buChar char="•"/>
            </a:pPr>
            <a:r>
              <a:rPr lang="en-US" dirty="0" smtClean="0"/>
              <a:t>Patient → Disease or No Disease </a:t>
            </a:r>
          </a:p>
          <a:p>
            <a:r>
              <a:rPr lang="en-US" b="1" dirty="0" smtClean="0"/>
              <a:t>Key points</a:t>
            </a:r>
          </a:p>
          <a:p>
            <a:pPr>
              <a:buFont typeface="Arial" panose="020B0604020202020204" pitchFamily="34" charset="0"/>
              <a:buChar char="•"/>
            </a:pPr>
            <a:r>
              <a:rPr lang="en-US" dirty="0" smtClean="0"/>
              <a:t>Works well for linear relationships </a:t>
            </a:r>
          </a:p>
          <a:p>
            <a:pPr>
              <a:buFont typeface="Arial" panose="020B0604020202020204" pitchFamily="34" charset="0"/>
              <a:buChar char="•"/>
            </a:pPr>
            <a:r>
              <a:rPr lang="en-US" dirty="0" smtClean="0"/>
              <a:t>Fast and simple </a:t>
            </a:r>
          </a:p>
          <a:p>
            <a:pPr>
              <a:buFont typeface="Arial" panose="020B0604020202020204" pitchFamily="34" charset="0"/>
              <a:buChar char="•"/>
            </a:pPr>
            <a:r>
              <a:rPr lang="en-US" dirty="0" smtClean="0"/>
              <a:t>Outputs probabilities between 0 and 1 </a:t>
            </a:r>
          </a:p>
          <a:p>
            <a:pPr>
              <a:buFont typeface="Arial" panose="020B0604020202020204" pitchFamily="34" charset="0"/>
              <a:buChar char="•"/>
            </a:pPr>
            <a:r>
              <a:rPr lang="en-US" dirty="0" smtClean="0"/>
              <a:t>Easy to interpret </a:t>
            </a:r>
          </a:p>
          <a:p>
            <a:r>
              <a:rPr lang="en-US" b="1" dirty="0" smtClean="0"/>
              <a:t>Formula</a:t>
            </a:r>
          </a:p>
          <a:p>
            <a:r>
              <a:rPr lang="en-US" dirty="0" smtClean="0"/>
              <a:t>P(Y=1)=11+e−zP(Y=1)=\</a:t>
            </a:r>
            <a:r>
              <a:rPr lang="en-US" dirty="0" err="1" smtClean="0"/>
              <a:t>frac</a:t>
            </a:r>
            <a:r>
              <a:rPr lang="en-US" dirty="0" smtClean="0"/>
              <a:t>{1}{1+e^{-z}}P(Y=1)=1+e−z1​ where:</a:t>
            </a:r>
          </a:p>
          <a:p>
            <a:r>
              <a:rPr lang="en-US" dirty="0" smtClean="0"/>
              <a:t>z=b0+b1x1+b2x2+⋯+</a:t>
            </a:r>
            <a:r>
              <a:rPr lang="en-US" dirty="0" err="1" smtClean="0"/>
              <a:t>bnxnz</a:t>
            </a:r>
            <a:r>
              <a:rPr lang="en-US" dirty="0" smtClean="0"/>
              <a:t>=b_0+b_1x_1+b_2x_2+\</a:t>
            </a:r>
            <a:r>
              <a:rPr lang="en-US" dirty="0" err="1" smtClean="0"/>
              <a:t>dots+b_nx_nz</a:t>
            </a:r>
            <a:r>
              <a:rPr lang="en-US" dirty="0" smtClean="0"/>
              <a:t>=b0​+b1​x1​+b2​x2​+⋯+</a:t>
            </a:r>
            <a:r>
              <a:rPr lang="en-US" dirty="0" err="1" smtClean="0"/>
              <a:t>bn</a:t>
            </a:r>
            <a:r>
              <a:rPr lang="en-US" dirty="0" smtClean="0"/>
              <a:t>​</a:t>
            </a:r>
            <a:r>
              <a:rPr lang="en-US" dirty="0" err="1" smtClean="0"/>
              <a:t>xn</a:t>
            </a:r>
            <a:endParaRPr lang="en-US" dirty="0"/>
          </a:p>
        </p:txBody>
      </p:sp>
    </p:spTree>
    <p:extLst>
      <p:ext uri="{BB962C8B-B14F-4D97-AF65-F5344CB8AC3E}">
        <p14:creationId xmlns:p14="http://schemas.microsoft.com/office/powerpoint/2010/main" val="5171487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042219" y="494437"/>
            <a:ext cx="10181304" cy="5355312"/>
          </a:xfrm>
          <a:prstGeom prst="rect">
            <a:avLst/>
          </a:prstGeom>
        </p:spPr>
        <p:txBody>
          <a:bodyPr wrap="square">
            <a:spAutoFit/>
          </a:bodyPr>
          <a:lstStyle/>
          <a:p>
            <a:r>
              <a:rPr lang="en-US" b="1" u="sng" dirty="0" smtClean="0"/>
              <a:t>Random Forest:</a:t>
            </a:r>
          </a:p>
          <a:p>
            <a:endParaRPr lang="en-US" dirty="0"/>
          </a:p>
          <a:p>
            <a:r>
              <a:rPr lang="en-US" dirty="0" smtClean="0"/>
              <a:t>Random Forest is a </a:t>
            </a:r>
            <a:r>
              <a:rPr lang="en-US" b="1" dirty="0" smtClean="0"/>
              <a:t>supervised ensemble learning algorithm</a:t>
            </a:r>
            <a:r>
              <a:rPr lang="en-US" dirty="0" smtClean="0"/>
              <a:t> used for:</a:t>
            </a:r>
          </a:p>
          <a:p>
            <a:pPr>
              <a:buFont typeface="Arial" panose="020B0604020202020204" pitchFamily="34" charset="0"/>
              <a:buChar char="•"/>
            </a:pPr>
            <a:r>
              <a:rPr lang="en-US" dirty="0" smtClean="0"/>
              <a:t>Classification </a:t>
            </a:r>
          </a:p>
          <a:p>
            <a:pPr>
              <a:buFont typeface="Arial" panose="020B0604020202020204" pitchFamily="34" charset="0"/>
              <a:buChar char="•"/>
            </a:pPr>
            <a:r>
              <a:rPr lang="en-US" dirty="0" smtClean="0"/>
              <a:t>Regression </a:t>
            </a:r>
          </a:p>
          <a:p>
            <a:r>
              <a:rPr lang="en-US" dirty="0" smtClean="0"/>
              <a:t>It builds </a:t>
            </a:r>
            <a:r>
              <a:rPr lang="en-US" b="1" dirty="0" smtClean="0"/>
              <a:t>many decision trees</a:t>
            </a:r>
            <a:r>
              <a:rPr lang="en-US" dirty="0" smtClean="0"/>
              <a:t> and combines their outputs to make better predictions.</a:t>
            </a:r>
          </a:p>
          <a:p>
            <a:r>
              <a:rPr lang="en-US" b="1" dirty="0" smtClean="0"/>
              <a:t>Example</a:t>
            </a:r>
          </a:p>
          <a:p>
            <a:endParaRPr lang="en-US" b="1" dirty="0" smtClean="0"/>
          </a:p>
          <a:p>
            <a:r>
              <a:rPr lang="en-US" dirty="0" smtClean="0"/>
              <a:t>Fraud detection </a:t>
            </a:r>
          </a:p>
          <a:p>
            <a:r>
              <a:rPr lang="en-US" dirty="0" smtClean="0"/>
              <a:t>Disease prediction </a:t>
            </a:r>
          </a:p>
          <a:p>
            <a:r>
              <a:rPr lang="en-US" dirty="0" smtClean="0"/>
              <a:t>Stock trend prediction.</a:t>
            </a:r>
          </a:p>
          <a:p>
            <a:endParaRPr lang="en-US" dirty="0"/>
          </a:p>
          <a:p>
            <a:r>
              <a:rPr lang="en-US" b="1" u="sng" dirty="0" smtClean="0"/>
              <a:t>Cost Optimization:</a:t>
            </a:r>
          </a:p>
          <a:p>
            <a:endParaRPr lang="en-US" b="1" u="sng" dirty="0"/>
          </a:p>
          <a:p>
            <a:r>
              <a:rPr lang="en-US" dirty="0" smtClean="0"/>
              <a:t>Cost optimization is the process of </a:t>
            </a:r>
            <a:r>
              <a:rPr lang="en-US" b="1" dirty="0" smtClean="0"/>
              <a:t>reducing unnecessary expenses while maintaining or improving performance, quality, and efficiency</a:t>
            </a:r>
            <a:r>
              <a:rPr lang="en-US" dirty="0" smtClean="0"/>
              <a:t>.</a:t>
            </a:r>
          </a:p>
          <a:p>
            <a:r>
              <a:rPr lang="en-US" dirty="0" smtClean="0"/>
              <a:t>The goal is not simply to cut costs, but to use resources in the </a:t>
            </a:r>
            <a:r>
              <a:rPr lang="en-US" b="1" dirty="0" smtClean="0"/>
              <a:t>most efficient and effective way</a:t>
            </a:r>
            <a:r>
              <a:rPr lang="en-US" dirty="0" smtClean="0"/>
              <a:t>.</a:t>
            </a:r>
          </a:p>
          <a:p>
            <a:endParaRPr lang="en-US" b="1" u="sng" dirty="0" smtClean="0"/>
          </a:p>
          <a:p>
            <a:endParaRPr lang="en-US" dirty="0"/>
          </a:p>
        </p:txBody>
      </p:sp>
    </p:spTree>
    <p:extLst>
      <p:ext uri="{BB962C8B-B14F-4D97-AF65-F5344CB8AC3E}">
        <p14:creationId xmlns:p14="http://schemas.microsoft.com/office/powerpoint/2010/main" val="16245163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05347" y="573011"/>
            <a:ext cx="9937955" cy="4801314"/>
          </a:xfrm>
          <a:prstGeom prst="rect">
            <a:avLst/>
          </a:prstGeom>
        </p:spPr>
        <p:txBody>
          <a:bodyPr wrap="square">
            <a:spAutoFit/>
          </a:bodyPr>
          <a:lstStyle/>
          <a:p>
            <a:r>
              <a:rPr lang="en-US" b="1" u="sng" dirty="0" smtClean="0"/>
              <a:t>Decision Intelligence:</a:t>
            </a:r>
          </a:p>
          <a:p>
            <a:endParaRPr lang="en-US" b="1" u="sng" dirty="0" smtClean="0"/>
          </a:p>
          <a:p>
            <a:r>
              <a:rPr lang="en-US" dirty="0" smtClean="0"/>
              <a:t>Decision Intelligence (DI) is the practice of using:</a:t>
            </a:r>
          </a:p>
          <a:p>
            <a:pPr>
              <a:buFont typeface="Arial" panose="020B0604020202020204" pitchFamily="34" charset="0"/>
              <a:buChar char="•"/>
            </a:pPr>
            <a:r>
              <a:rPr lang="en-US" dirty="0" smtClean="0"/>
              <a:t>Data </a:t>
            </a:r>
          </a:p>
          <a:p>
            <a:pPr>
              <a:buFont typeface="Arial" panose="020B0604020202020204" pitchFamily="34" charset="0"/>
              <a:buChar char="•"/>
            </a:pPr>
            <a:r>
              <a:rPr lang="en-US" dirty="0" smtClean="0"/>
              <a:t>Artificial Intelligence (AI) </a:t>
            </a:r>
          </a:p>
          <a:p>
            <a:pPr>
              <a:buFont typeface="Arial" panose="020B0604020202020204" pitchFamily="34" charset="0"/>
              <a:buChar char="•"/>
            </a:pPr>
            <a:r>
              <a:rPr lang="en-US" dirty="0" smtClean="0"/>
              <a:t>Machine Learning </a:t>
            </a:r>
          </a:p>
          <a:p>
            <a:pPr>
              <a:buFont typeface="Arial" panose="020B0604020202020204" pitchFamily="34" charset="0"/>
              <a:buChar char="•"/>
            </a:pPr>
            <a:r>
              <a:rPr lang="en-US" dirty="0" smtClean="0"/>
              <a:t>Analytics </a:t>
            </a:r>
          </a:p>
          <a:p>
            <a:pPr>
              <a:buFont typeface="Arial" panose="020B0604020202020204" pitchFamily="34" charset="0"/>
              <a:buChar char="•"/>
            </a:pPr>
            <a:r>
              <a:rPr lang="en-US" dirty="0" smtClean="0"/>
              <a:t>Human expertise </a:t>
            </a:r>
          </a:p>
          <a:p>
            <a:r>
              <a:rPr lang="en-US" dirty="0" smtClean="0"/>
              <a:t>to make </a:t>
            </a:r>
            <a:r>
              <a:rPr lang="en-US" b="1" dirty="0" smtClean="0"/>
              <a:t>better, faster, and smarter decisions</a:t>
            </a:r>
            <a:r>
              <a:rPr lang="en-US" dirty="0" smtClean="0"/>
              <a:t>.</a:t>
            </a:r>
          </a:p>
          <a:p>
            <a:r>
              <a:rPr lang="en-US" dirty="0" smtClean="0"/>
              <a:t>It combines business knowledge with technology to improve decision-making processes.</a:t>
            </a:r>
          </a:p>
          <a:p>
            <a:endParaRPr lang="en-US" dirty="0"/>
          </a:p>
          <a:p>
            <a:r>
              <a:rPr lang="en-US" b="1" u="sng" dirty="0" smtClean="0"/>
              <a:t>Deep Learning:</a:t>
            </a:r>
          </a:p>
          <a:p>
            <a:endParaRPr lang="en-US" b="1" u="sng" dirty="0"/>
          </a:p>
          <a:p>
            <a:r>
              <a:rPr lang="en-US" dirty="0" smtClean="0"/>
              <a:t>Deep Learning is a branch of Machine Learning that uses </a:t>
            </a:r>
            <a:r>
              <a:rPr lang="en-US" b="1" dirty="0" smtClean="0"/>
              <a:t>artificial neural networks with many layers</a:t>
            </a:r>
            <a:r>
              <a:rPr lang="en-US" dirty="0" smtClean="0"/>
              <a:t> to learn patterns from large amounts of data.</a:t>
            </a:r>
          </a:p>
          <a:p>
            <a:r>
              <a:rPr lang="en-US" dirty="0" smtClean="0"/>
              <a:t>It is inspired by how the human brain processes information.</a:t>
            </a:r>
          </a:p>
          <a:p>
            <a:endParaRPr lang="en-US" b="1" u="sng" dirty="0"/>
          </a:p>
        </p:txBody>
      </p:sp>
    </p:spTree>
    <p:extLst>
      <p:ext uri="{BB962C8B-B14F-4D97-AF65-F5344CB8AC3E}">
        <p14:creationId xmlns:p14="http://schemas.microsoft.com/office/powerpoint/2010/main" val="18703932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739877" y="673960"/>
            <a:ext cx="9421761" cy="5078313"/>
          </a:xfrm>
          <a:prstGeom prst="rect">
            <a:avLst/>
          </a:prstGeom>
        </p:spPr>
        <p:txBody>
          <a:bodyPr wrap="square">
            <a:spAutoFit/>
          </a:bodyPr>
          <a:lstStyle/>
          <a:p>
            <a:r>
              <a:rPr lang="en-US" b="1" u="sng" dirty="0" smtClean="0"/>
              <a:t>SHAP Analysis:</a:t>
            </a:r>
          </a:p>
          <a:p>
            <a:r>
              <a:rPr lang="en-US" dirty="0" smtClean="0"/>
              <a:t>SHAP stands for </a:t>
            </a:r>
            <a:r>
              <a:rPr lang="en-US" b="1" dirty="0" err="1" smtClean="0"/>
              <a:t>SHapley</a:t>
            </a:r>
            <a:r>
              <a:rPr lang="en-US" b="1" dirty="0" smtClean="0"/>
              <a:t> Additive </a:t>
            </a:r>
            <a:r>
              <a:rPr lang="en-US" b="1" dirty="0" err="1" smtClean="0"/>
              <a:t>exPlanations</a:t>
            </a:r>
            <a:r>
              <a:rPr lang="en-US" dirty="0" smtClean="0"/>
              <a:t>.</a:t>
            </a:r>
          </a:p>
          <a:p>
            <a:r>
              <a:rPr lang="en-US" dirty="0" smtClean="0"/>
              <a:t>It is a technique used in Explainable Artificial Intelligence to explain how machine learning models make predictions. It answers “Why did the model make this prediction?” SHAP assigns an importance value to each feature showing:</a:t>
            </a:r>
          </a:p>
          <a:p>
            <a:pPr marL="285750" indent="-285750">
              <a:buFont typeface="Arial" panose="020B0604020202020204" pitchFamily="34" charset="0"/>
              <a:buChar char="•"/>
            </a:pPr>
            <a:r>
              <a:rPr lang="en-US" dirty="0" smtClean="0"/>
              <a:t>How much each feature contributed .</a:t>
            </a:r>
          </a:p>
          <a:p>
            <a:pPr marL="285750" indent="-285750">
              <a:buFont typeface="Arial" panose="020B0604020202020204" pitchFamily="34" charset="0"/>
              <a:buChar char="•"/>
            </a:pPr>
            <a:r>
              <a:rPr lang="en-US" dirty="0" smtClean="0"/>
              <a:t>Whether it increased or decreased the prediction.</a:t>
            </a:r>
          </a:p>
          <a:p>
            <a:endParaRPr lang="en-US" dirty="0"/>
          </a:p>
          <a:p>
            <a:r>
              <a:rPr lang="en-US" b="1" u="sng" dirty="0" smtClean="0"/>
              <a:t>Partial Dependence Plots:</a:t>
            </a:r>
          </a:p>
          <a:p>
            <a:pPr marL="285750" indent="-285750">
              <a:buFont typeface="Arial" panose="020B0604020202020204" pitchFamily="34" charset="0"/>
              <a:buChar char="•"/>
            </a:pPr>
            <a:endParaRPr lang="en-US" dirty="0" smtClean="0"/>
          </a:p>
          <a:p>
            <a:r>
              <a:rPr lang="en-US" dirty="0" smtClean="0"/>
              <a:t>Partial Dependence Plots are visualization techniques used in Machine Learning to show how a feature affects a model’s prediction. It helps to understand “How does changing one feature influence the predicted outcome?”. A Partial Dependence Plot shows the average effect of one or more input features on the prediction of a machine learning model.</a:t>
            </a:r>
          </a:p>
          <a:p>
            <a:endParaRPr lang="en-US" dirty="0" smtClean="0"/>
          </a:p>
          <a:p>
            <a:endParaRPr lang="en-US" dirty="0"/>
          </a:p>
          <a:p>
            <a:endParaRPr lang="en-US" dirty="0" smtClean="0"/>
          </a:p>
          <a:p>
            <a:endParaRPr lang="en-US" dirty="0"/>
          </a:p>
        </p:txBody>
      </p:sp>
    </p:spTree>
    <p:extLst>
      <p:ext uri="{BB962C8B-B14F-4D97-AF65-F5344CB8AC3E}">
        <p14:creationId xmlns:p14="http://schemas.microsoft.com/office/powerpoint/2010/main" val="29602639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91497" y="363312"/>
            <a:ext cx="9620864" cy="5355312"/>
          </a:xfrm>
          <a:prstGeom prst="rect">
            <a:avLst/>
          </a:prstGeom>
        </p:spPr>
        <p:txBody>
          <a:bodyPr wrap="square">
            <a:spAutoFit/>
          </a:bodyPr>
          <a:lstStyle/>
          <a:p>
            <a:r>
              <a:rPr lang="en-US" b="1" u="sng" dirty="0" smtClean="0"/>
              <a:t>Bias and Fairness Analysis:</a:t>
            </a:r>
          </a:p>
          <a:p>
            <a:endParaRPr lang="en-US" b="1" u="sng" dirty="0" smtClean="0"/>
          </a:p>
          <a:p>
            <a:r>
              <a:rPr lang="en-US" dirty="0" smtClean="0"/>
              <a:t>It is the process of checking whether an AI or machine learning model makes decisions that are:</a:t>
            </a:r>
          </a:p>
          <a:p>
            <a:pPr>
              <a:buFont typeface="Arial" panose="020B0604020202020204" pitchFamily="34" charset="0"/>
              <a:buChar char="•"/>
            </a:pPr>
            <a:r>
              <a:rPr lang="en-US" dirty="0" smtClean="0"/>
              <a:t>Unfair </a:t>
            </a:r>
          </a:p>
          <a:p>
            <a:pPr>
              <a:buFont typeface="Arial" panose="020B0604020202020204" pitchFamily="34" charset="0"/>
              <a:buChar char="•"/>
            </a:pPr>
            <a:r>
              <a:rPr lang="en-US" dirty="0" smtClean="0"/>
              <a:t>Discriminatory </a:t>
            </a:r>
          </a:p>
          <a:p>
            <a:pPr>
              <a:buFont typeface="Arial" panose="020B0604020202020204" pitchFamily="34" charset="0"/>
              <a:buChar char="•"/>
            </a:pPr>
            <a:r>
              <a:rPr lang="en-US" dirty="0" smtClean="0"/>
              <a:t>Prejudiced toward certain groups </a:t>
            </a:r>
          </a:p>
          <a:p>
            <a:r>
              <a:rPr lang="en-US" dirty="0" smtClean="0"/>
              <a:t>The goal is to ensure AI systems make ethical and balanced decisions.</a:t>
            </a:r>
          </a:p>
          <a:p>
            <a:r>
              <a:rPr lang="en-US" dirty="0" smtClean="0"/>
              <a:t>“Evaluating whether an AI system treats all individuals or groups fairly.”</a:t>
            </a:r>
          </a:p>
          <a:p>
            <a:endParaRPr lang="en-US" dirty="0"/>
          </a:p>
          <a:p>
            <a:r>
              <a:rPr lang="en-US" b="1" u="sng" dirty="0" smtClean="0"/>
              <a:t>Decision Intelligence:</a:t>
            </a:r>
          </a:p>
          <a:p>
            <a:endParaRPr lang="en-US" dirty="0" smtClean="0"/>
          </a:p>
          <a:p>
            <a:r>
              <a:rPr lang="en-US" dirty="0" smtClean="0"/>
              <a:t>Decision Intelligence (DI) combines:</a:t>
            </a:r>
          </a:p>
          <a:p>
            <a:r>
              <a:rPr lang="en-US" dirty="0" smtClean="0"/>
              <a:t>Data analytics </a:t>
            </a:r>
          </a:p>
          <a:p>
            <a:r>
              <a:rPr lang="en-US" dirty="0" smtClean="0"/>
              <a:t>Artificial intelligence </a:t>
            </a:r>
          </a:p>
          <a:p>
            <a:r>
              <a:rPr lang="en-US" dirty="0" smtClean="0"/>
              <a:t>Machine learning </a:t>
            </a:r>
          </a:p>
          <a:p>
            <a:r>
              <a:rPr lang="en-US" dirty="0" smtClean="0"/>
              <a:t>Human expertise </a:t>
            </a:r>
          </a:p>
          <a:p>
            <a:r>
              <a:rPr lang="en-US" dirty="0" smtClean="0"/>
              <a:t>to improve decision-making in organizations.</a:t>
            </a:r>
          </a:p>
          <a:p>
            <a:r>
              <a:rPr lang="en-US" dirty="0" smtClean="0"/>
              <a:t>“Using AI and data-driven insights to make smarter business decisions.”</a:t>
            </a:r>
          </a:p>
          <a:p>
            <a:endParaRPr lang="en-US" dirty="0"/>
          </a:p>
        </p:txBody>
      </p:sp>
    </p:spTree>
    <p:extLst>
      <p:ext uri="{BB962C8B-B14F-4D97-AF65-F5344CB8AC3E}">
        <p14:creationId xmlns:p14="http://schemas.microsoft.com/office/powerpoint/2010/main" val="11831348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TotalTime>
  <Words>690</Words>
  <Application>Microsoft Office PowerPoint</Application>
  <PresentationFormat>Widescreen</PresentationFormat>
  <Paragraphs>113</Paragraphs>
  <Slides>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Arial</vt:lpstr>
      <vt:lpstr>Calibri</vt:lpstr>
      <vt:lpstr>Calibri (Body)</vt:lpstr>
      <vt:lpstr>Calibri body</vt:lpstr>
      <vt:lpstr>Calibri Light</vt:lpstr>
      <vt:lpstr>Symbol</vt:lpstr>
      <vt:lpstr>Times New Roman</vt:lpstr>
      <vt:lpstr>Office Theme</vt:lpstr>
      <vt:lpstr>Enterprise Telecom Customer Risk Intelligence Platform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Enterprise Telecom Customer Risk Intelligence Platform</dc:title>
  <dc:creator>IBuild</dc:creator>
  <cp:lastModifiedBy>IBuild</cp:lastModifiedBy>
  <cp:revision>30</cp:revision>
  <dcterms:created xsi:type="dcterms:W3CDTF">2026-05-10T05:38:24Z</dcterms:created>
  <dcterms:modified xsi:type="dcterms:W3CDTF">2026-05-10T05:59:55Z</dcterms:modified>
</cp:coreProperties>
</file>